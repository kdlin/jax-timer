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6400800" cy="4572000"/>
          </a:xfrm>
          <a:prstGeom prst="rect">
            <a:avLst/>
          </a:prstGeom>
          <a:solidFill>
            <a:srgbClr val="0D1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5486400" cy="4572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9377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OBSIDIAN HUD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Inter"/>
              </a:rPr>
              <a:t>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nter"/>
              </a:rP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nter"/>
              </a:rPr>
              <a:t>High-End Minimalist Dark Mode
Inspired by surgical precision and editorial clarity.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0" y="1097280"/>
            <a:ext cx="4389120" cy="5852160"/>
          </a:xfrm>
          <a:prstGeom prst="rect">
            <a:avLst/>
          </a:prstGeom>
          <a:solidFill>
            <a:srgbClr val="1B1B1B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FDAF"/>
                </a:solidFill>
                <a:latin typeface="Inter"/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7830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Inter"/>
              </a:rPr>
              <a:t>25:00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3840480"/>
            <a:ext cx="3749039" cy="4572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384048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3950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6C6C6"/>
                </a:solidFill>
                <a:latin typeface="Inter"/>
              </a:rPr>
              <a:t>12:30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0" y="3950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6C6C6"/>
                </a:solidFill>
                <a:latin typeface="Inter"/>
              </a:rPr>
              <a:t>25:00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Color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C6C6"/>
                </a:solidFill>
                <a:latin typeface="Inter"/>
              </a:rPr>
              <a:t>Tonal layering — surfaces as physical layers of polished obsidian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200400" cy="2011680"/>
          </a:xfrm>
          <a:prstGeom prst="rect">
            <a:avLst/>
          </a:prstGeom>
          <a:solidFill>
            <a:srgbClr val="131313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#131313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Inter"/>
              </a:rPr>
              <a:t>surface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920240"/>
            <a:ext cx="3200400" cy="2011680"/>
          </a:xfrm>
          <a:prstGeom prst="rect">
            <a:avLst/>
          </a:prstGeom>
          <a:solidFill>
            <a:srgbClr val="1B1B1B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#1B1B1B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Inter"/>
              </a:rPr>
              <a:t>surface-container-low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920240"/>
            <a:ext cx="3200400" cy="2011680"/>
          </a:xfrm>
          <a:prstGeom prst="rect">
            <a:avLst/>
          </a:prstGeom>
          <a:solidFill>
            <a:srgbClr val="2A2A2A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#2A2A2A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Inter"/>
              </a:rPr>
              <a:t>surface-container-high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59" y="1920240"/>
            <a:ext cx="3200400" cy="2011680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18519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#353535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19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Inter"/>
              </a:rPr>
              <a:t>surface-container-highest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3200400" cy="2011680"/>
          </a:xfrm>
          <a:prstGeom prst="rect">
            <a:avLst/>
          </a:prstGeom>
          <a:solidFill>
            <a:srgbClr val="474747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#474747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Inter"/>
              </a:rPr>
              <a:t>outline-variant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4572000"/>
            <a:ext cx="32004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31313"/>
                </a:solidFill>
                <a:latin typeface="Inter"/>
              </a:rPr>
              <a:t>#FFFFFF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31313"/>
                </a:solidFill>
                <a:latin typeface="Inter"/>
              </a:rPr>
              <a:t>primary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4572000"/>
            <a:ext cx="3200400" cy="2011680"/>
          </a:xfrm>
          <a:prstGeom prst="rect">
            <a:avLst/>
          </a:prstGeom>
          <a:solidFill>
            <a:srgbClr val="6BFDAF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31313"/>
                </a:solidFill>
                <a:latin typeface="Inter"/>
              </a:rPr>
              <a:t>#6BFDAF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31313"/>
                </a:solidFill>
                <a:latin typeface="Inter"/>
              </a:rPr>
              <a:t>tertiary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81359" y="4572000"/>
            <a:ext cx="3200400" cy="2011680"/>
          </a:xfrm>
          <a:prstGeom prst="rect">
            <a:avLst/>
          </a:prstGeom>
          <a:solidFill>
            <a:srgbClr val="F19A8E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19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31313"/>
                </a:solidFill>
                <a:latin typeface="Inter"/>
              </a:rPr>
              <a:t>#F19A8E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19" y="6309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31313"/>
                </a:solidFill>
                <a:latin typeface="Inter"/>
              </a:rPr>
              <a:t>break-accent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C6C6"/>
                </a:solidFill>
                <a:latin typeface="Inter"/>
              </a:rPr>
              <a:t>Inter — editorial hierarchy with drastic scale shifts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37160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933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4747"/>
                </a:solidFill>
                <a:latin typeface="Inter"/>
              </a:rPr>
              <a:t>56pt  /  -0.02em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56816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The Obsidian HUD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37160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821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Headline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82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4747"/>
                </a:solidFill>
                <a:latin typeface="Inter"/>
              </a:rPr>
              <a:t>32pt  /  high 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45536"/>
            <a:ext cx="8229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</a:rPr>
              <a:t>Section Headline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42231"/>
            <a:ext cx="137160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215383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15383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4747"/>
                </a:solidFill>
                <a:latin typeface="Inter"/>
              </a:rPr>
              <a:t>22pt  /  component headers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178807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Component Title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10912"/>
            <a:ext cx="137160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8406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840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4747"/>
                </a:solidFill>
                <a:latin typeface="Inter"/>
              </a:rPr>
              <a:t>13pt  /  on-surface-variant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04748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6C6C6"/>
                </a:solidFill>
                <a:latin typeface="Inter"/>
              </a:rPr>
              <a:t>Body text for readability.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88151"/>
            <a:ext cx="137160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61303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61303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4747"/>
                </a:solidFill>
                <a:latin typeface="Inter"/>
              </a:rPr>
              <a:t>9pt   /  uppercase + 0.05em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82472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FDAF"/>
                </a:solidFill>
                <a:latin typeface="Inter"/>
              </a:rPr>
              <a:t>LABEL  •  BADGE  • 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C6C6"/>
                </a:solidFill>
                <a:latin typeface="Inter"/>
              </a:rPr>
              <a:t>BUTTONS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21945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31313"/>
                </a:solidFill>
                <a:latin typeface="Inter"/>
              </a:rPr>
              <a:t>Primary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938528"/>
            <a:ext cx="2011680" cy="530352"/>
          </a:xfrm>
          <a:prstGeom prst="rect">
            <a:avLst/>
          </a:prstGeom>
          <a:solidFill>
            <a:srgbClr val="131313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029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Inter"/>
              </a:rPr>
              <a:t>Secondary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938528"/>
            <a:ext cx="1645920" cy="530352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0299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C6C6"/>
                </a:solidFill>
                <a:latin typeface="Inter"/>
              </a:rPr>
              <a:t>Tertiary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C6C6"/>
                </a:solidFill>
                <a:latin typeface="Inter"/>
              </a:rPr>
              <a:t>BADGES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19125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315468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73352" y="319125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19A8E"/>
                </a:solidFill>
                <a:latin typeface="Inter"/>
              </a:rPr>
              <a:t>BREAK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15468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319125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15468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319125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FB4AB"/>
                </a:solidFill>
                <a:latin typeface="Inter"/>
              </a:rPr>
              <a:t>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315468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319125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C6C6"/>
                </a:solidFill>
                <a:latin typeface="Inter"/>
              </a:rPr>
              <a:t>FLOATING HUD  (glassmorphism)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5120640" cy="3657600"/>
          </a:xfrm>
          <a:prstGeom prst="rect">
            <a:avLst/>
          </a:prstGeom>
          <a:solidFill>
            <a:srgbClr val="1B1B1B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70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BFDAF"/>
                </a:solidFill>
                <a:latin typeface="Inter"/>
              </a:rPr>
              <a:t>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63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Inter"/>
              </a:rPr>
              <a:t>24:37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6537960"/>
            <a:ext cx="4663440" cy="4572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653796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6656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6C6C6"/>
                </a:solidFill>
                <a:latin typeface="Inter"/>
              </a:rPr>
              <a:t>00:23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6656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6C6C6"/>
                </a:solidFill>
                <a:latin typeface="Inter"/>
              </a:rPr>
              <a:t>25:00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6C6C6"/>
                </a:solidFill>
                <a:latin typeface="Inter"/>
              </a:rPr>
              <a:t>INPUT FIELDS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160520"/>
            <a:ext cx="5486400" cy="566928"/>
          </a:xfrm>
          <a:prstGeom prst="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2245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4747"/>
                </a:solidFill>
                <a:latin typeface="Inter"/>
              </a:rPr>
              <a:t>Placeholder text...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956048"/>
            <a:ext cx="5486400" cy="566928"/>
          </a:xfrm>
          <a:prstGeom prst="rect">
            <a:avLst/>
          </a:prstGeom>
          <a:solidFill>
            <a:srgbClr val="1B1B1B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502005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nter"/>
              </a:rPr>
              <a:t>Active input 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60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C6C6"/>
                </a:solidFill>
                <a:latin typeface="Inter"/>
              </a:rPr>
              <a:t>Ghost Border  —  outline-variant at 15-20% opacity
Never use 100% opaque outlines.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Elevation &amp;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C6C6"/>
                </a:solidFill>
                <a:latin typeface="Inter"/>
              </a:rPr>
              <a:t>No shadows — hierarchy defined entirely by tonal surface shifts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852159"/>
            <a:ext cx="2514600" cy="2011680"/>
          </a:xfrm>
          <a:prstGeom prst="rect">
            <a:avLst/>
          </a:prstGeom>
          <a:solidFill>
            <a:srgbClr val="131313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961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FDAF"/>
                </a:solidFill>
                <a:latin typeface="Inter"/>
              </a:rPr>
              <a:t>Layer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910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6C6C6"/>
                </a:solidFill>
                <a:latin typeface="Inter"/>
              </a:rPr>
              <a:t>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836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#131313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5349240"/>
            <a:ext cx="2514600" cy="2514600"/>
          </a:xfrm>
          <a:prstGeom prst="rect">
            <a:avLst/>
          </a:prstGeom>
          <a:solidFill>
            <a:srgbClr val="1B1B1B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5458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FDAF"/>
                </a:solidFill>
                <a:latin typeface="Inter"/>
              </a:rP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5788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6C6C6"/>
                </a:solidFill>
                <a:latin typeface="Inter"/>
              </a:rPr>
              <a:t>surface-container-low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60807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#1b1b1b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846319"/>
            <a:ext cx="2514600" cy="3017520"/>
          </a:xfrm>
          <a:prstGeom prst="rect">
            <a:avLst/>
          </a:prstGeom>
          <a:solidFill>
            <a:srgbClr val="222222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495604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FDAF"/>
                </a:solidFill>
                <a:latin typeface="Inter"/>
              </a:rPr>
              <a:t>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52852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6C6C6"/>
                </a:solidFill>
                <a:latin typeface="Inter"/>
              </a:rPr>
              <a:t>surface-container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5577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#222222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59" y="4343399"/>
            <a:ext cx="2514600" cy="3520440"/>
          </a:xfrm>
          <a:prstGeom prst="rect">
            <a:avLst/>
          </a:prstGeom>
          <a:solidFill>
            <a:srgbClr val="2A2A2A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7" y="445312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FDAF"/>
                </a:solidFill>
                <a:latin typeface="Inter"/>
              </a:rP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7" y="478231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6C6C6"/>
                </a:solidFill>
                <a:latin typeface="Inter"/>
              </a:rPr>
              <a:t>surface-container-high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7" y="50749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#2a2a2a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0" y="3840479"/>
            <a:ext cx="2514600" cy="4023360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22607" y="39502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FDAF"/>
                </a:solidFill>
                <a:latin typeface="Inter"/>
              </a:rPr>
              <a:t>Layer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22607" y="4279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6C6C6"/>
                </a:solidFill>
                <a:latin typeface="Inter"/>
              </a:rPr>
              <a:t>surface-container-highest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22607" y="45719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#353535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0" cy="256032"/>
          </a:xfrm>
          <a:prstGeom prst="rect">
            <a:avLst/>
          </a:prstGeom>
          <a:solidFill>
            <a:srgbClr val="353535"/>
          </a:solidFill>
          <a:ln w="6350">
            <a:solidFill>
              <a:srgbClr val="47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02336"/>
            <a:ext cx="7680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6BFDAF"/>
                </a:solidFill>
                <a:latin typeface="Inter"/>
              </a:rPr>
              <a:t>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Inter"/>
              </a:rPr>
              <a:t>Do's &amp; Don'ts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64208"/>
            <a:ext cx="6675120" cy="54864"/>
          </a:xfrm>
          <a:prstGeom prst="rect">
            <a:avLst/>
          </a:prstGeom>
          <a:solidFill>
            <a:srgbClr val="6BF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FDAF"/>
                </a:solidFill>
                <a:latin typeface="Inter"/>
              </a:rP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774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Embrace negative space — increase padding before adding borders.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067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tertiary (#6BFDAF) sparingly as a high-tech accent color.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0390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Apply backdrop-blur to all floating / overlapping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51713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Define hierarchy through tonal layers, never border 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3036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Minimum border-radius of 0.25rem (sm) on all elements.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664208"/>
            <a:ext cx="6675120" cy="54864"/>
          </a:xfrm>
          <a:prstGeom prst="rect">
            <a:avLst/>
          </a:prstGeom>
          <a:solidFill>
            <a:srgbClr val="F19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9A8E"/>
                </a:solidFill>
                <a:latin typeface="Inter"/>
              </a:rPr>
              <a:t>DON'T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37744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pure white for long-form body copy — causes halation.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09067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standard blue for links. Use primary (white) or tertiary.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380390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sharp 90-degree corners anywhere in the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451713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1px solid borders for structural layout separation.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523036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C6C6"/>
                </a:solidFill>
                <a:latin typeface="Inter"/>
              </a:rPr>
              <a:t>   Use full-opacity outlines — ghost borders at 15-20%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